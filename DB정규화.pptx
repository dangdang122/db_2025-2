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D43298-BF27-46A6-BFB6-6891D8081F6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5CF98-3A24-4664-8067-4EDDE22AA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766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5CF98-3A24-4664-8067-4EDDE22AA62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511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0D4D8-2D29-C88E-5B18-6C2166D5B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DCD546-DF20-7EF2-5FC5-D27AD8C9A9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52B44D-147F-CCAD-FDFA-D934ED590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D8029F-DD59-A42D-8B93-D03B4F86A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5CF98-3A24-4664-8067-4EDDE22AA62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126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656E1-CCA8-D73E-24D0-A4C63F49D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B243B0A-FFBE-B372-E43B-397E087AC3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7EFA02-665F-BC4B-A530-C12EE4997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E64CA-D4AE-4D12-80A7-938D757B9AA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A023DC-483B-87A8-35E3-ABAA046C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4961B7-3ACE-1697-B2A5-36884A709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6726C-569C-4173-B98E-EADF17CC6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69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719F61-BB72-839D-0FC5-D9D5F63F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D1B3A0-C494-3171-2921-6124E4074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29A7B3-31DD-0244-180A-63B877EFA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E64CA-D4AE-4D12-80A7-938D757B9AA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DEB3BE-5A6B-D28B-D90E-1A2EADF52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179923-FC01-67A9-0DAA-1021D1A50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6726C-569C-4173-B98E-EADF17CC6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5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6E1797-1CD7-EE9C-0EE5-C8F2FDA79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C59CFA-8FA2-02FA-4A8B-743B84EA7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64FB3F-D98F-FF0B-CB28-CC0035FAF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E64CA-D4AE-4D12-80A7-938D757B9AA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C82D03-251C-D32D-3352-78A6FFA4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25175F-C8D2-42E4-E353-C0313AB11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6726C-569C-4173-B98E-EADF17CC6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985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8E2D5-B497-D536-6574-36FE73D49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2AD5F1-4FE4-1927-111A-B6C3689A5F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456DBC-17E1-31AB-8FD8-0D86C8D2C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9149CB-C40F-A147-2F41-C868B077B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E64CA-D4AE-4D12-80A7-938D757B9AA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85B5ED-DB3A-38D7-0C21-756BF39A4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A63402-25AF-055C-9673-752C65E46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6726C-569C-4173-B98E-EADF17CC6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998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20017-08E1-9CB0-5F58-A3A2612C1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BE3684-073F-EC15-BE51-FEBB96847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053F04-971E-14D1-27E2-5BC698A8D2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097BB08-932F-6C76-B779-855B8F9EE9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C009F48-3086-BF15-F212-81CC1607C2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F318B62-5499-EC08-141A-CCFA823FC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E64CA-D4AE-4D12-80A7-938D757B9AA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C921D82-63CD-CF8D-28C6-51D446907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1792257-5426-42F5-C8B7-F8A5EADAB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6726C-569C-4173-B98E-EADF17CC6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5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0E031D-44BE-FC01-D17A-7ACE3D54C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711208-3C02-DD7C-7619-445E5BFF9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E64CA-D4AE-4D12-80A7-938D757B9AA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22B50C-B902-5D8C-4C9F-01F9E666B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671953-4092-967C-D559-F0FE24E6D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6726C-569C-4173-B98E-EADF17CC6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319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F858F9-D307-7FEF-1430-644C998AE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E64CA-D4AE-4D12-80A7-938D757B9AA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4BDE4B-B8BD-A8DE-9A6A-A27F4569B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A4C41C-6801-D758-A75D-C9DEB3F5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6726C-569C-4173-B98E-EADF17CC6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4127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3CF0BA-4A98-9FAA-6E1D-0702CE3CE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05C97B-980B-90D5-0B3B-C77F1B2E0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66B804-AA5F-B7CB-26B2-A9950AA848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B8C9D9-1B09-8421-ECC1-21389A077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E64CA-D4AE-4D12-80A7-938D757B9AA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959D56-D79F-1D92-406C-3F59FB8CD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2EE766-F169-63E0-D93F-BD530375A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6726C-569C-4173-B98E-EADF17CC6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915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0D9F-48B1-15CA-F11C-91483904C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90895C7-4AEA-A682-DA43-C9030DFCE2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2EA06B-7FC7-DCFB-1E49-5BE3F82B5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533EB-D080-56ED-A95D-9B7BA6128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E64CA-D4AE-4D12-80A7-938D757B9AA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034A88-256A-D492-FA78-670BF6008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255129-4D21-848B-DC23-DCD41C0E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6726C-569C-4173-B98E-EADF17CC6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198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C1C173-84F8-28F0-1460-D0E511059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B7CE2DF-4182-5A81-31A1-8A9E6FE856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BC3F26-9A30-63CF-5B16-5914941D8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E64CA-D4AE-4D12-80A7-938D757B9AA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088DD7-A7AE-8B18-6953-694FF8D51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EC4D97-10B2-C666-3133-36CB7747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6726C-569C-4173-B98E-EADF17CC6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227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AA33A20-7A54-397D-7C35-41492A0CCA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345CD0-2F29-5F54-EDC8-7CB7E8C53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EA3550-60FC-A477-DA9B-6D79DA212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E64CA-D4AE-4D12-80A7-938D757B9AA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20F980-F945-26C9-C835-85A219BD8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FB3B92-9F87-7D3D-0F7B-391963FA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6726C-569C-4173-B98E-EADF17CC6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27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B73145F-4488-C28C-3EF9-9C3240D75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812732-B99C-F5F5-1401-C5C216198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90AF37-BB30-9500-EF50-35F4662C3D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E64CA-D4AE-4D12-80A7-938D757B9AA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ACE642-D6EA-8D9D-7406-A123D551D7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E37E9A-AEED-9537-263A-D0879D7A98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66726C-569C-4173-B98E-EADF17CC6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032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그래픽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CA4193-CE3A-15E4-E593-635356C61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895" y="1023923"/>
            <a:ext cx="5168051" cy="48101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1C1626-7D56-33DC-C604-CB6011C0DE31}"/>
              </a:ext>
            </a:extLst>
          </p:cNvPr>
          <p:cNvSpPr txBox="1"/>
          <p:nvPr/>
        </p:nvSpPr>
        <p:spPr>
          <a:xfrm>
            <a:off x="7739960" y="3105833"/>
            <a:ext cx="3288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2501110225</a:t>
            </a:r>
          </a:p>
          <a:p>
            <a:pPr algn="ctr"/>
            <a:r>
              <a:rPr lang="ko-KR" altLang="en-US" dirty="0"/>
              <a:t>홍종민</a:t>
            </a:r>
          </a:p>
        </p:txBody>
      </p:sp>
    </p:spTree>
    <p:extLst>
      <p:ext uri="{BB962C8B-B14F-4D97-AF65-F5344CB8AC3E}">
        <p14:creationId xmlns:p14="http://schemas.microsoft.com/office/powerpoint/2010/main" val="114605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681260-C70C-1365-390C-CBD48EECA537}"/>
              </a:ext>
            </a:extLst>
          </p:cNvPr>
          <p:cNvSpPr txBox="1"/>
          <p:nvPr/>
        </p:nvSpPr>
        <p:spPr>
          <a:xfrm>
            <a:off x="4632036" y="266007"/>
            <a:ext cx="292792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릴레이션 정규화</a:t>
            </a:r>
            <a:endParaRPr lang="en-US" altLang="ko-KR" sz="2800" dirty="0"/>
          </a:p>
          <a:p>
            <a:pPr algn="ctr"/>
            <a:r>
              <a:rPr lang="en-US" altLang="ko-KR" dirty="0"/>
              <a:t>1</a:t>
            </a:r>
            <a:r>
              <a:rPr lang="ko-KR" altLang="en-US" dirty="0"/>
              <a:t>정규화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8F88386-8F3D-2D46-60C7-1EB19F249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133395"/>
              </p:ext>
            </p:extLst>
          </p:nvPr>
        </p:nvGraphicFramePr>
        <p:xfrm>
          <a:off x="1782618" y="4238096"/>
          <a:ext cx="881149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582">
                  <a:extLst>
                    <a:ext uri="{9D8B030D-6E8A-4147-A177-3AD203B41FA5}">
                      <a16:colId xmlns:a16="http://schemas.microsoft.com/office/drawing/2014/main" val="2256292405"/>
                    </a:ext>
                  </a:extLst>
                </a:gridCol>
                <a:gridCol w="1468582">
                  <a:extLst>
                    <a:ext uri="{9D8B030D-6E8A-4147-A177-3AD203B41FA5}">
                      <a16:colId xmlns:a16="http://schemas.microsoft.com/office/drawing/2014/main" val="3237485644"/>
                    </a:ext>
                  </a:extLst>
                </a:gridCol>
                <a:gridCol w="1468582">
                  <a:extLst>
                    <a:ext uri="{9D8B030D-6E8A-4147-A177-3AD203B41FA5}">
                      <a16:colId xmlns:a16="http://schemas.microsoft.com/office/drawing/2014/main" val="1361089261"/>
                    </a:ext>
                  </a:extLst>
                </a:gridCol>
                <a:gridCol w="1468582">
                  <a:extLst>
                    <a:ext uri="{9D8B030D-6E8A-4147-A177-3AD203B41FA5}">
                      <a16:colId xmlns:a16="http://schemas.microsoft.com/office/drawing/2014/main" val="2980558756"/>
                    </a:ext>
                  </a:extLst>
                </a:gridCol>
                <a:gridCol w="1468582">
                  <a:extLst>
                    <a:ext uri="{9D8B030D-6E8A-4147-A177-3AD203B41FA5}">
                      <a16:colId xmlns:a16="http://schemas.microsoft.com/office/drawing/2014/main" val="4231927569"/>
                    </a:ext>
                  </a:extLst>
                </a:gridCol>
                <a:gridCol w="1468582">
                  <a:extLst>
                    <a:ext uri="{9D8B030D-6E8A-4147-A177-3AD203B41FA5}">
                      <a16:colId xmlns:a16="http://schemas.microsoft.com/office/drawing/2014/main" val="17216037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고객 아이디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고객이름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직업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적립금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7759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Apple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김현준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학생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45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Banana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정소화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Vip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간호사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2500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703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Carrot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원유선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교사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4500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935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정지영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Silver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회사원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339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정지영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Silver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학생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6275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DDAAC65-3A0E-DBDF-A47E-27E5FD124C21}"/>
              </a:ext>
            </a:extLst>
          </p:cNvPr>
          <p:cNvSpPr txBox="1"/>
          <p:nvPr/>
        </p:nvSpPr>
        <p:spPr>
          <a:xfrm>
            <a:off x="3222033" y="3868764"/>
            <a:ext cx="5932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기존 직업의 회사원</a:t>
            </a:r>
            <a:r>
              <a:rPr lang="en-US" altLang="ko-KR" dirty="0"/>
              <a:t>, </a:t>
            </a:r>
            <a:r>
              <a:rPr lang="ko-KR" altLang="en-US" dirty="0"/>
              <a:t>학생 중복 부분을 나누어 분리한다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CF3B027-E8ED-79AD-4777-AD19ABD04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252760"/>
              </p:ext>
            </p:extLst>
          </p:nvPr>
        </p:nvGraphicFramePr>
        <p:xfrm>
          <a:off x="1782618" y="1333629"/>
          <a:ext cx="881149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582">
                  <a:extLst>
                    <a:ext uri="{9D8B030D-6E8A-4147-A177-3AD203B41FA5}">
                      <a16:colId xmlns:a16="http://schemas.microsoft.com/office/drawing/2014/main" val="3233867988"/>
                    </a:ext>
                  </a:extLst>
                </a:gridCol>
                <a:gridCol w="1468582">
                  <a:extLst>
                    <a:ext uri="{9D8B030D-6E8A-4147-A177-3AD203B41FA5}">
                      <a16:colId xmlns:a16="http://schemas.microsoft.com/office/drawing/2014/main" val="755432737"/>
                    </a:ext>
                  </a:extLst>
                </a:gridCol>
                <a:gridCol w="1468582">
                  <a:extLst>
                    <a:ext uri="{9D8B030D-6E8A-4147-A177-3AD203B41FA5}">
                      <a16:colId xmlns:a16="http://schemas.microsoft.com/office/drawing/2014/main" val="1214137127"/>
                    </a:ext>
                  </a:extLst>
                </a:gridCol>
                <a:gridCol w="1468582">
                  <a:extLst>
                    <a:ext uri="{9D8B030D-6E8A-4147-A177-3AD203B41FA5}">
                      <a16:colId xmlns:a16="http://schemas.microsoft.com/office/drawing/2014/main" val="3076403231"/>
                    </a:ext>
                  </a:extLst>
                </a:gridCol>
                <a:gridCol w="1468582">
                  <a:extLst>
                    <a:ext uri="{9D8B030D-6E8A-4147-A177-3AD203B41FA5}">
                      <a16:colId xmlns:a16="http://schemas.microsoft.com/office/drawing/2014/main" val="3160901866"/>
                    </a:ext>
                  </a:extLst>
                </a:gridCol>
                <a:gridCol w="1468582">
                  <a:extLst>
                    <a:ext uri="{9D8B030D-6E8A-4147-A177-3AD203B41FA5}">
                      <a16:colId xmlns:a16="http://schemas.microsoft.com/office/drawing/2014/main" val="10312049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고객 아이디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고객이름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직업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적립금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861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Apple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김현준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학생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428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Banana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정소화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Vip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간호사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2500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126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Carrot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원유선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교사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4500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63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정지영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Silver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회사원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학생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155396"/>
                  </a:ext>
                </a:extLst>
              </a:tr>
            </a:tbl>
          </a:graphicData>
        </a:graphic>
      </p:graphicFrame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65838140-3287-8402-9A98-3208F3D7F23E}"/>
              </a:ext>
            </a:extLst>
          </p:cNvPr>
          <p:cNvSpPr/>
          <p:nvPr/>
        </p:nvSpPr>
        <p:spPr>
          <a:xfrm>
            <a:off x="5911273" y="3282153"/>
            <a:ext cx="554182" cy="49228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756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D1357-2CF7-88E7-2835-743334AEA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931D27-0CED-AAAB-BA39-F12D5F6DE645}"/>
              </a:ext>
            </a:extLst>
          </p:cNvPr>
          <p:cNvSpPr txBox="1"/>
          <p:nvPr/>
        </p:nvSpPr>
        <p:spPr>
          <a:xfrm>
            <a:off x="4632035" y="120073"/>
            <a:ext cx="292792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릴레이션 정규화</a:t>
            </a:r>
            <a:endParaRPr lang="en-US" altLang="ko-KR" sz="2800" dirty="0"/>
          </a:p>
          <a:p>
            <a:pPr algn="ctr"/>
            <a:r>
              <a:rPr lang="en-US" altLang="ko-KR" dirty="0"/>
              <a:t>2</a:t>
            </a:r>
            <a:r>
              <a:rPr lang="ko-KR" altLang="en-US" dirty="0"/>
              <a:t>정규화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AC18A1A-7700-7AD9-0AFB-A019E9589D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984006"/>
              </p:ext>
            </p:extLst>
          </p:nvPr>
        </p:nvGraphicFramePr>
        <p:xfrm>
          <a:off x="2138216" y="2226168"/>
          <a:ext cx="8525166" cy="2405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0861">
                  <a:extLst>
                    <a:ext uri="{9D8B030D-6E8A-4147-A177-3AD203B41FA5}">
                      <a16:colId xmlns:a16="http://schemas.microsoft.com/office/drawing/2014/main" val="2256292405"/>
                    </a:ext>
                  </a:extLst>
                </a:gridCol>
                <a:gridCol w="1420861">
                  <a:extLst>
                    <a:ext uri="{9D8B030D-6E8A-4147-A177-3AD203B41FA5}">
                      <a16:colId xmlns:a16="http://schemas.microsoft.com/office/drawing/2014/main" val="3237485644"/>
                    </a:ext>
                  </a:extLst>
                </a:gridCol>
                <a:gridCol w="1420861">
                  <a:extLst>
                    <a:ext uri="{9D8B030D-6E8A-4147-A177-3AD203B41FA5}">
                      <a16:colId xmlns:a16="http://schemas.microsoft.com/office/drawing/2014/main" val="1361089261"/>
                    </a:ext>
                  </a:extLst>
                </a:gridCol>
                <a:gridCol w="1420861">
                  <a:extLst>
                    <a:ext uri="{9D8B030D-6E8A-4147-A177-3AD203B41FA5}">
                      <a16:colId xmlns:a16="http://schemas.microsoft.com/office/drawing/2014/main" val="2980558756"/>
                    </a:ext>
                  </a:extLst>
                </a:gridCol>
                <a:gridCol w="1420861">
                  <a:extLst>
                    <a:ext uri="{9D8B030D-6E8A-4147-A177-3AD203B41FA5}">
                      <a16:colId xmlns:a16="http://schemas.microsoft.com/office/drawing/2014/main" val="4231927569"/>
                    </a:ext>
                  </a:extLst>
                </a:gridCol>
                <a:gridCol w="1420861">
                  <a:extLst>
                    <a:ext uri="{9D8B030D-6E8A-4147-A177-3AD203B41FA5}">
                      <a16:colId xmlns:a16="http://schemas.microsoft.com/office/drawing/2014/main" val="1721603783"/>
                    </a:ext>
                  </a:extLst>
                </a:gridCol>
              </a:tblGrid>
              <a:tr h="57686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고객 아이디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고객이름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직업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적립금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7759589"/>
                  </a:ext>
                </a:extLst>
              </a:tr>
              <a:tr h="3296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Apple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김현준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학생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45944"/>
                  </a:ext>
                </a:extLst>
              </a:tr>
              <a:tr h="3296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Banana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정소화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Vip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간호사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2500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703086"/>
                  </a:ext>
                </a:extLst>
              </a:tr>
              <a:tr h="3296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Carrot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원유선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교사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4500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935170"/>
                  </a:ext>
                </a:extLst>
              </a:tr>
              <a:tr h="3296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정지영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Silver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회사원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339828"/>
                  </a:ext>
                </a:extLst>
              </a:tr>
              <a:tr h="3296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정지영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Silver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학생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62756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D40A04D-DF3A-E24E-54C2-8F3E6178EF4C}"/>
              </a:ext>
            </a:extLst>
          </p:cNvPr>
          <p:cNvSpPr txBox="1"/>
          <p:nvPr/>
        </p:nvSpPr>
        <p:spPr>
          <a:xfrm>
            <a:off x="2821708" y="4737345"/>
            <a:ext cx="7158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1NF </a:t>
            </a:r>
            <a:r>
              <a:rPr lang="ko-KR" altLang="en-US" dirty="0"/>
              <a:t>정규화 후의 테이블은 위와 같은 부분 함수 종속성을 포함하고 있어 데이터 중복 및 갱신 이상 문제가 발생합니다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9092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F6802-CD0F-B6F5-316C-0C0C7B209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0A9AAB-2428-2AC6-8A3D-6ABD74120F43}"/>
              </a:ext>
            </a:extLst>
          </p:cNvPr>
          <p:cNvSpPr txBox="1"/>
          <p:nvPr/>
        </p:nvSpPr>
        <p:spPr>
          <a:xfrm>
            <a:off x="4632035" y="120073"/>
            <a:ext cx="292792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릴레이션 정규화</a:t>
            </a:r>
            <a:endParaRPr lang="en-US" altLang="ko-KR" sz="2800" dirty="0"/>
          </a:p>
          <a:p>
            <a:pPr algn="ctr"/>
            <a:r>
              <a:rPr lang="en-US" altLang="ko-KR" dirty="0"/>
              <a:t>2</a:t>
            </a:r>
            <a:r>
              <a:rPr lang="ko-KR" altLang="en-US" dirty="0"/>
              <a:t>정규화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42AC5A5-02B0-88C6-A600-10BD60CEC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886138"/>
              </p:ext>
            </p:extLst>
          </p:nvPr>
        </p:nvGraphicFramePr>
        <p:xfrm>
          <a:off x="217053" y="1990070"/>
          <a:ext cx="734291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582">
                  <a:extLst>
                    <a:ext uri="{9D8B030D-6E8A-4147-A177-3AD203B41FA5}">
                      <a16:colId xmlns:a16="http://schemas.microsoft.com/office/drawing/2014/main" val="2256292405"/>
                    </a:ext>
                  </a:extLst>
                </a:gridCol>
                <a:gridCol w="1468582">
                  <a:extLst>
                    <a:ext uri="{9D8B030D-6E8A-4147-A177-3AD203B41FA5}">
                      <a16:colId xmlns:a16="http://schemas.microsoft.com/office/drawing/2014/main" val="3237485644"/>
                    </a:ext>
                  </a:extLst>
                </a:gridCol>
                <a:gridCol w="1468582">
                  <a:extLst>
                    <a:ext uri="{9D8B030D-6E8A-4147-A177-3AD203B41FA5}">
                      <a16:colId xmlns:a16="http://schemas.microsoft.com/office/drawing/2014/main" val="1361089261"/>
                    </a:ext>
                  </a:extLst>
                </a:gridCol>
                <a:gridCol w="1468582">
                  <a:extLst>
                    <a:ext uri="{9D8B030D-6E8A-4147-A177-3AD203B41FA5}">
                      <a16:colId xmlns:a16="http://schemas.microsoft.com/office/drawing/2014/main" val="2980558756"/>
                    </a:ext>
                  </a:extLst>
                </a:gridCol>
                <a:gridCol w="1468582">
                  <a:extLst>
                    <a:ext uri="{9D8B030D-6E8A-4147-A177-3AD203B41FA5}">
                      <a16:colId xmlns:a16="http://schemas.microsoft.com/office/drawing/2014/main" val="17216037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고객 아이디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고객이름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적립금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7759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Apple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김현준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45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Banana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정소화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Vip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2500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703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Carrot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원유선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4500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935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정지영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Silver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339828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A1ACB54-A6A2-018D-9C56-BEE758D0FD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600737"/>
              </p:ext>
            </p:extLst>
          </p:nvPr>
        </p:nvGraphicFramePr>
        <p:xfrm>
          <a:off x="7777018" y="1804647"/>
          <a:ext cx="4313382" cy="22250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6691">
                  <a:extLst>
                    <a:ext uri="{9D8B030D-6E8A-4147-A177-3AD203B41FA5}">
                      <a16:colId xmlns:a16="http://schemas.microsoft.com/office/drawing/2014/main" val="1137028457"/>
                    </a:ext>
                  </a:extLst>
                </a:gridCol>
                <a:gridCol w="2156691">
                  <a:extLst>
                    <a:ext uri="{9D8B030D-6E8A-4147-A177-3AD203B41FA5}">
                      <a16:colId xmlns:a16="http://schemas.microsoft.com/office/drawing/2014/main" val="3284502586"/>
                    </a:ext>
                  </a:extLst>
                </a:gridCol>
              </a:tblGrid>
              <a:tr h="3708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고객 아이디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직업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803779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Apple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학생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451092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Banana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간호사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344926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Carrot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교사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042553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회사원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444001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학생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29653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95FF0EC-FD1C-6DA6-E3E3-6F64BD5D9CB5}"/>
              </a:ext>
            </a:extLst>
          </p:cNvPr>
          <p:cNvSpPr txBox="1"/>
          <p:nvPr/>
        </p:nvSpPr>
        <p:spPr>
          <a:xfrm>
            <a:off x="2781967" y="4453140"/>
            <a:ext cx="66280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부분 함수 종속으로 인한 중복과 이상 현상을 제거하기 위해 릴레이션을 </a:t>
            </a:r>
            <a:r>
              <a:rPr lang="en-US" altLang="ko-KR" dirty="0"/>
              <a:t>2</a:t>
            </a:r>
            <a:r>
              <a:rPr lang="ko-KR" altLang="en-US" dirty="0"/>
              <a:t>개의 테이블로 분리합니다</a:t>
            </a:r>
          </a:p>
        </p:txBody>
      </p:sp>
    </p:spTree>
    <p:extLst>
      <p:ext uri="{BB962C8B-B14F-4D97-AF65-F5344CB8AC3E}">
        <p14:creationId xmlns:p14="http://schemas.microsoft.com/office/powerpoint/2010/main" val="3429582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204</Words>
  <Application>Microsoft Office PowerPoint</Application>
  <PresentationFormat>와이드스크린</PresentationFormat>
  <Paragraphs>152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홍종민</dc:creator>
  <cp:lastModifiedBy>홍종민</cp:lastModifiedBy>
  <cp:revision>12</cp:revision>
  <dcterms:created xsi:type="dcterms:W3CDTF">2025-11-24T06:11:23Z</dcterms:created>
  <dcterms:modified xsi:type="dcterms:W3CDTF">2025-11-24T07:17:56Z</dcterms:modified>
</cp:coreProperties>
</file>